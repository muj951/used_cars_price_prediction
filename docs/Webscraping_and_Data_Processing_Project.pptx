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0" r:id="rId10"/>
    <p:sldId id="268" r:id="rId11"/>
    <p:sldId id="263" r:id="rId12"/>
    <p:sldId id="264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45" autoAdjust="0"/>
  </p:normalViewPr>
  <p:slideViewPr>
    <p:cSldViewPr snapToGrid="0" snapToObjects="1">
      <p:cViewPr>
        <p:scale>
          <a:sx n="90" d="100"/>
          <a:sy n="90" d="100"/>
        </p:scale>
        <p:origin x="1008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2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8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2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6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5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5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2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0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2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9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0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553" y="1858877"/>
            <a:ext cx="7772400" cy="1470025"/>
          </a:xfrm>
        </p:spPr>
        <p:txBody>
          <a:bodyPr/>
          <a:lstStyle/>
          <a:p>
            <a:r>
              <a:rPr dirty="0"/>
              <a:t>Used Car Price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004" y="3194856"/>
            <a:ext cx="6400800" cy="2847109"/>
          </a:xfrm>
        </p:spPr>
        <p:txBody>
          <a:bodyPr>
            <a:normAutofit/>
          </a:bodyPr>
          <a:lstStyle/>
          <a:p>
            <a:r>
              <a:rPr dirty="0"/>
              <a:t>Web Scraping eBay to Deploying </a:t>
            </a:r>
            <a:r>
              <a:rPr lang="en-US" dirty="0"/>
              <a:t>Predictive Model</a:t>
            </a:r>
            <a:endParaRPr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dirty="0"/>
              <a:t>Mujahid Afzal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26" y="0"/>
            <a:ext cx="7772400" cy="1609344"/>
          </a:xfrm>
        </p:spPr>
        <p:txBody>
          <a:bodyPr/>
          <a:lstStyle/>
          <a:p>
            <a:r>
              <a:rPr dirty="0"/>
              <a:t>Project Overview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26" y="1669525"/>
            <a:ext cx="7772400" cy="4050792"/>
          </a:xfrm>
        </p:spPr>
        <p:txBody>
          <a:bodyPr/>
          <a:lstStyle/>
          <a:p>
            <a:r>
              <a:rPr dirty="0"/>
              <a:t>Goal: Build a Machine Learning model to predict fair market value for used cars using real-time data.</a:t>
            </a:r>
          </a:p>
          <a:p>
            <a:endParaRPr dirty="0"/>
          </a:p>
          <a:p>
            <a:r>
              <a:rPr dirty="0"/>
              <a:t>Why eBay?</a:t>
            </a:r>
          </a:p>
          <a:p>
            <a:r>
              <a:rPr dirty="0"/>
              <a:t>- Represents the true 'open market' with high volume.</a:t>
            </a:r>
          </a:p>
          <a:p>
            <a:r>
              <a:rPr dirty="0"/>
              <a:t>- Data is unstructured (messy titles), offering a real Data Science challenge.</a:t>
            </a:r>
          </a:p>
          <a:p>
            <a:endParaRPr dirty="0"/>
          </a:p>
          <a:p>
            <a:r>
              <a:rPr dirty="0"/>
              <a:t>Tech Stack: Python, </a:t>
            </a:r>
            <a:r>
              <a:rPr dirty="0" err="1"/>
              <a:t>BeautifulSoup</a:t>
            </a:r>
            <a:r>
              <a:rPr dirty="0"/>
              <a:t>, SQLite, Pandas, </a:t>
            </a:r>
            <a:r>
              <a:rPr lang="en-US" dirty="0" err="1"/>
              <a:t>XGBoost</a:t>
            </a:r>
            <a:r>
              <a:rPr dirty="0"/>
              <a:t>, </a:t>
            </a:r>
            <a:r>
              <a:rPr dirty="0" err="1"/>
              <a:t>Streamlit</a:t>
            </a:r>
            <a:r>
              <a:rPr dirty="0"/>
              <a:t>, Docker.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74" y="96543"/>
            <a:ext cx="6039293" cy="1376435"/>
          </a:xfrm>
        </p:spPr>
        <p:txBody>
          <a:bodyPr/>
          <a:lstStyle/>
          <a:p>
            <a:r>
              <a:rPr dirty="0"/>
              <a:t>The Architecture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51" y="1812852"/>
            <a:ext cx="6143879" cy="4608730"/>
          </a:xfrm>
        </p:spPr>
        <p:txBody>
          <a:bodyPr>
            <a:normAutofit/>
          </a:bodyPr>
          <a:lstStyle/>
          <a:p>
            <a:r>
              <a:rPr dirty="0"/>
              <a:t>End-to-End Workflow:</a:t>
            </a:r>
          </a:p>
          <a:p>
            <a:r>
              <a:rPr dirty="0"/>
              <a:t>1. Web Scraping: Custom script to download thousands of listings.</a:t>
            </a:r>
          </a:p>
          <a:p>
            <a:r>
              <a:rPr dirty="0"/>
              <a:t>2. Storage: Raw data stored in SQLite Database for persistence.</a:t>
            </a:r>
          </a:p>
          <a:p>
            <a:r>
              <a:rPr dirty="0"/>
              <a:t>3. Cleaning: Regex &amp; Feature Engineering to fix messy text.</a:t>
            </a:r>
          </a:p>
          <a:p>
            <a:r>
              <a:rPr dirty="0"/>
              <a:t>4. Modeling: Benchmarking 8 models (Linear vs Tree-based).</a:t>
            </a:r>
          </a:p>
          <a:p>
            <a:r>
              <a:rPr dirty="0"/>
              <a:t>5. Deployment: </a:t>
            </a:r>
            <a:r>
              <a:rPr dirty="0" err="1"/>
              <a:t>Dockerized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App.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8A12C-CE18-4207-8874-CCF76060D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567" y="96543"/>
            <a:ext cx="2982433" cy="6664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23" y="0"/>
            <a:ext cx="7772400" cy="1609344"/>
          </a:xfrm>
        </p:spPr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823" y="1685473"/>
            <a:ext cx="7772400" cy="4050792"/>
          </a:xfrm>
        </p:spPr>
        <p:txBody>
          <a:bodyPr/>
          <a:lstStyle/>
          <a:p>
            <a:r>
              <a:rPr dirty="0"/>
              <a:t>Challenge: Raw data was unusable (e.g., '🔥2015 Toyota Camry!!! L@@K 74k').</a:t>
            </a:r>
          </a:p>
          <a:p>
            <a:endParaRPr dirty="0"/>
          </a:p>
          <a:p>
            <a:r>
              <a:rPr dirty="0"/>
              <a:t>Solutions:</a:t>
            </a:r>
          </a:p>
          <a:p>
            <a:r>
              <a:rPr dirty="0"/>
              <a:t>- Regex: Extracted sticky years (e.g., 'listing2016').</a:t>
            </a:r>
          </a:p>
          <a:p>
            <a:r>
              <a:rPr dirty="0"/>
              <a:t>- Logic: Normalized mileage ('74k' -&gt; 74,000).</a:t>
            </a:r>
          </a:p>
          <a:p>
            <a:r>
              <a:rPr dirty="0"/>
              <a:t>- 'Ghost Car' Fix: Injected 'Year + Brand' if cleaning wiped the title.</a:t>
            </a:r>
          </a:p>
          <a:p>
            <a:endParaRPr dirty="0"/>
          </a:p>
          <a:p>
            <a:r>
              <a:rPr dirty="0"/>
              <a:t>Result: 100% of valid rows preserved for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2471-5D8E-4FC5-A4C5-053095B9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72" y="144390"/>
            <a:ext cx="7772400" cy="821654"/>
          </a:xfrm>
        </p:spPr>
        <p:txBody>
          <a:bodyPr/>
          <a:lstStyle/>
          <a:p>
            <a:r>
              <a:rPr lang="en-US" dirty="0"/>
              <a:t>Feature Correlation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A7D34-A071-442F-A466-1DD608F34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34102"/>
            <a:ext cx="9085521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FE939-BF8B-474E-AEDD-CF4E217A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61" y="64221"/>
            <a:ext cx="7772400" cy="658793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A78FF-9AC2-430C-97A6-E7E917E7D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30" y="723014"/>
            <a:ext cx="9101470" cy="6134986"/>
          </a:xfrm>
        </p:spPr>
        <p:txBody>
          <a:bodyPr>
            <a:noAutofit/>
          </a:bodyPr>
          <a:lstStyle/>
          <a:p>
            <a:pPr defTabSz="457200"/>
            <a:r>
              <a:rPr lang="en-US" sz="1800" dirty="0"/>
              <a:t>Brand Tier:</a:t>
            </a:r>
          </a:p>
          <a:p>
            <a:pPr lvl="1" defTabSz="457200">
              <a:buFont typeface="Arial" panose="020B0604020202020204" pitchFamily="34" charset="0"/>
              <a:buChar char="•"/>
            </a:pPr>
            <a:r>
              <a:rPr lang="en-US" sz="1600" dirty="0"/>
              <a:t>Mapped brands to distinct categories (1=Economy, 2=Mid-Range, 3=Luxury).</a:t>
            </a:r>
          </a:p>
          <a:p>
            <a:pPr lvl="1" defTabSz="457200">
              <a:buFont typeface="Arial" panose="020B0604020202020204" pitchFamily="34" charset="0"/>
              <a:buChar char="•"/>
            </a:pPr>
            <a:r>
              <a:rPr lang="en-US" sz="1600" dirty="0"/>
              <a:t>Captured the "Luxury Premium," proving a +0.41 correlation with price.</a:t>
            </a:r>
          </a:p>
          <a:p>
            <a:pPr marL="274320" lvl="1" indent="0" defTabSz="457200">
              <a:buNone/>
            </a:pPr>
            <a:endParaRPr lang="en-US" sz="1600" dirty="0"/>
          </a:p>
          <a:p>
            <a:pPr marL="0" indent="0" defTabSz="457200">
              <a:buNone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0869E-0988-41A8-B178-3A20F4DFA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4628"/>
            <a:ext cx="9143999" cy="511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6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CCF89-EE95-4525-850B-7ECB3BC6B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02" y="723014"/>
            <a:ext cx="8878186" cy="5449185"/>
          </a:xfrm>
        </p:spPr>
        <p:txBody>
          <a:bodyPr/>
          <a:lstStyle/>
          <a:p>
            <a:pPr marL="0" defTabSz="457200"/>
            <a:r>
              <a:rPr lang="en-US" sz="1800" dirty="0"/>
              <a:t>The Depreciation Curve (Justifies Price vs. Age: -0.41)</a:t>
            </a:r>
          </a:p>
          <a:p>
            <a:pPr lvl="1" defTabSz="457200">
              <a:buFont typeface="Arial" panose="020B0604020202020204" pitchFamily="34" charset="0"/>
              <a:buChar char="•"/>
            </a:pPr>
            <a:r>
              <a:rPr lang="en-US" sz="1600" dirty="0"/>
              <a:t>This visualization validates the impact of car_age on value. It reveals the non-linear nature of depreciation.</a:t>
            </a:r>
          </a:p>
          <a:p>
            <a:pPr lvl="1" defTabSz="457200">
              <a:buFont typeface="Arial" panose="020B0604020202020204" pitchFamily="34" charset="0"/>
              <a:buChar char="•"/>
            </a:pPr>
            <a:r>
              <a:rPr lang="en-US" sz="1600" dirty="0"/>
              <a:t>A steep drop in value during the first few years (0–5), followed by a flattening of the curve as cars get older.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817BC7-E23E-4A39-A3BB-C6C018DE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61" y="64221"/>
            <a:ext cx="7772400" cy="658793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E92A4-9B1E-4530-BA89-40D1F26F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" y="2169043"/>
            <a:ext cx="9141341" cy="46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CB23-2D3B-47C5-A965-1198B1907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2757"/>
            <a:ext cx="9144000" cy="6055243"/>
          </a:xfrm>
        </p:spPr>
        <p:txBody>
          <a:bodyPr/>
          <a:lstStyle/>
          <a:p>
            <a:pPr marL="0" defTabSz="457200"/>
            <a:r>
              <a:rPr lang="en-US" sz="1800" dirty="0"/>
              <a:t>The "Mileage Penalty" (Justifies Price vs. Mileage: -0.56)</a:t>
            </a:r>
          </a:p>
          <a:p>
            <a:pPr lvl="1" defTabSz="457200">
              <a:buFont typeface="Arial" panose="020B0604020202020204" pitchFamily="34" charset="0"/>
              <a:buChar char="•"/>
            </a:pPr>
            <a:r>
              <a:rPr lang="en-US" sz="1600" dirty="0"/>
              <a:t>This chart visually proves that as mileage increases, the price drops reliably. The red regression line helps confirm this negative trend, validating why mileage is likely strongest predictor.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97BF20-852A-4AD4-98F9-7CEE4823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61" y="143964"/>
            <a:ext cx="7772400" cy="658793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Engineering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72FD65-A853-4409-83C9-E8D963472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7279"/>
            <a:ext cx="9144000" cy="482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97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9074"/>
            <a:ext cx="7772400" cy="1609344"/>
          </a:xfrm>
        </p:spPr>
        <p:txBody>
          <a:bodyPr/>
          <a:lstStyle/>
          <a:p>
            <a:r>
              <a:rPr dirty="0"/>
              <a:t>Analysis &amp;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167" y="1748418"/>
            <a:ext cx="8544131" cy="4634925"/>
          </a:xfrm>
        </p:spPr>
        <p:txBody>
          <a:bodyPr>
            <a:normAutofit/>
          </a:bodyPr>
          <a:lstStyle/>
          <a:p>
            <a:r>
              <a:rPr dirty="0"/>
              <a:t>Insights:</a:t>
            </a:r>
            <a:endParaRPr lang="en-US" dirty="0"/>
          </a:p>
          <a:p>
            <a:r>
              <a:rPr lang="en-US" sz="2000" dirty="0"/>
              <a:t> Car Age: Calculated `2025 - Year` to measure depreciation directly.</a:t>
            </a:r>
            <a:endParaRPr dirty="0"/>
          </a:p>
          <a:p>
            <a:r>
              <a:rPr lang="en-US" dirty="0"/>
              <a:t> </a:t>
            </a:r>
            <a:r>
              <a:rPr dirty="0"/>
              <a:t>Mileage </a:t>
            </a:r>
            <a:r>
              <a:rPr lang="en-US" dirty="0"/>
              <a:t>is also a strong feature followed by model</a:t>
            </a:r>
            <a:r>
              <a:rPr dirty="0"/>
              <a:t>.</a:t>
            </a:r>
          </a:p>
          <a:p>
            <a:r>
              <a:rPr dirty="0"/>
              <a:t>- Seller Score proved to be noise (0% correlation)</a:t>
            </a:r>
            <a:r>
              <a:rPr lang="en-US" dirty="0"/>
              <a:t> that’s why it was excluded</a:t>
            </a:r>
            <a:r>
              <a:rPr dirty="0"/>
              <a:t>.</a:t>
            </a:r>
          </a:p>
          <a:p>
            <a:r>
              <a:rPr dirty="0"/>
              <a:t>Winning Model: </a:t>
            </a:r>
            <a:r>
              <a:rPr lang="en-US" dirty="0" err="1"/>
              <a:t>XGBoost</a:t>
            </a:r>
            <a:endParaRPr dirty="0"/>
          </a:p>
          <a:p>
            <a:r>
              <a:rPr dirty="0"/>
              <a:t>- </a:t>
            </a:r>
            <a:r>
              <a:rPr b="1" dirty="0"/>
              <a:t>Accuracy: </a:t>
            </a:r>
            <a:r>
              <a:rPr lang="en-US" b="1" dirty="0"/>
              <a:t> </a:t>
            </a:r>
            <a:r>
              <a:rPr lang="en-US" dirty="0"/>
              <a:t>~84.5</a:t>
            </a:r>
            <a:r>
              <a:rPr dirty="0"/>
              <a:t>% (R2 Score)</a:t>
            </a:r>
            <a:endParaRPr lang="en-US" dirty="0"/>
          </a:p>
          <a:p>
            <a:r>
              <a:rPr lang="en-US" b="1" dirty="0"/>
              <a:t>MAE:  </a:t>
            </a:r>
            <a:r>
              <a:rPr lang="en-US" dirty="0"/>
              <a:t>~$4,300 (Average Error)</a:t>
            </a:r>
          </a:p>
          <a:p>
            <a:r>
              <a:rPr lang="en-US" b="1" dirty="0"/>
              <a:t>Speed:  </a:t>
            </a:r>
            <a:r>
              <a:rPr lang="en-US" dirty="0"/>
              <a:t>Training time 4.3s (vs </a:t>
            </a:r>
            <a:r>
              <a:rPr lang="en-US" dirty="0" err="1"/>
              <a:t>LightGBM</a:t>
            </a:r>
            <a:r>
              <a:rPr lang="en-US" dirty="0"/>
              <a:t> 53s). </a:t>
            </a:r>
            <a:r>
              <a:rPr lang="en-US" dirty="0" err="1"/>
              <a:t>XGBoost</a:t>
            </a:r>
            <a:r>
              <a:rPr lang="en-US" dirty="0"/>
              <a:t> was 10x faster    in your specific tuning run.</a:t>
            </a:r>
            <a:endParaRPr dirty="0"/>
          </a:p>
          <a:p>
            <a:r>
              <a:rPr dirty="0"/>
              <a:t>- Outperformed Linear Regression (~</a:t>
            </a:r>
            <a:r>
              <a:rPr lang="en-US" dirty="0"/>
              <a:t>50</a:t>
            </a:r>
            <a:r>
              <a:rPr dirty="0"/>
              <a:t>%) significantly.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44B86F-2174-4E04-A754-F9B3DD0A9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8" y="149141"/>
            <a:ext cx="7772400" cy="821654"/>
          </a:xfrm>
        </p:spPr>
        <p:txBody>
          <a:bodyPr/>
          <a:lstStyle/>
          <a:p>
            <a:r>
              <a:rPr lang="en-US" dirty="0"/>
              <a:t>Model Accuracy Comparison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C0CAB57-6BEF-4ED6-95A5-BDD8C1323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33058"/>
              </p:ext>
            </p:extLst>
          </p:nvPr>
        </p:nvGraphicFramePr>
        <p:xfrm>
          <a:off x="137337" y="927849"/>
          <a:ext cx="8869325" cy="593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63">
                  <a:extLst>
                    <a:ext uri="{9D8B030D-6E8A-4147-A177-3AD203B41FA5}">
                      <a16:colId xmlns:a16="http://schemas.microsoft.com/office/drawing/2014/main" val="3921811530"/>
                    </a:ext>
                  </a:extLst>
                </a:gridCol>
                <a:gridCol w="1524541">
                  <a:extLst>
                    <a:ext uri="{9D8B030D-6E8A-4147-A177-3AD203B41FA5}">
                      <a16:colId xmlns:a16="http://schemas.microsoft.com/office/drawing/2014/main" val="2869525790"/>
                    </a:ext>
                  </a:extLst>
                </a:gridCol>
                <a:gridCol w="1036502">
                  <a:extLst>
                    <a:ext uri="{9D8B030D-6E8A-4147-A177-3AD203B41FA5}">
                      <a16:colId xmlns:a16="http://schemas.microsoft.com/office/drawing/2014/main" val="368474552"/>
                    </a:ext>
                  </a:extLst>
                </a:gridCol>
                <a:gridCol w="1036502">
                  <a:extLst>
                    <a:ext uri="{9D8B030D-6E8A-4147-A177-3AD203B41FA5}">
                      <a16:colId xmlns:a16="http://schemas.microsoft.com/office/drawing/2014/main" val="1013079192"/>
                    </a:ext>
                  </a:extLst>
                </a:gridCol>
                <a:gridCol w="1036502">
                  <a:extLst>
                    <a:ext uri="{9D8B030D-6E8A-4147-A177-3AD203B41FA5}">
                      <a16:colId xmlns:a16="http://schemas.microsoft.com/office/drawing/2014/main" val="2536226176"/>
                    </a:ext>
                  </a:extLst>
                </a:gridCol>
                <a:gridCol w="3686815">
                  <a:extLst>
                    <a:ext uri="{9D8B030D-6E8A-4147-A177-3AD203B41FA5}">
                      <a16:colId xmlns:a16="http://schemas.microsoft.com/office/drawing/2014/main" val="3373488558"/>
                    </a:ext>
                  </a:extLst>
                </a:gridCol>
              </a:tblGrid>
              <a:tr h="533471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Rank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R² Score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MAE (Error)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Time (s)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85552130"/>
                  </a:ext>
                </a:extLst>
              </a:tr>
              <a:tr h="767677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XGBoost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84.49%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~$4,299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3.1s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Winner.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Highest accuracy ($R^2$), lowest error, and fastest training speed.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0009913"/>
                  </a:ext>
                </a:extLst>
              </a:tr>
              <a:tr h="767677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LightGBM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84.39%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~$4,378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51.2s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Runner Up.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Comparable accuracy to XGBoost but significantly slower training time.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94524404"/>
                  </a:ext>
                </a:extLst>
              </a:tr>
              <a:tr h="767677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81.11%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~$4,811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11.2s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Solid performance (&gt;80%), but higher error than the gradient boosting models.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93973743"/>
                  </a:ext>
                </a:extLst>
              </a:tr>
              <a:tr h="53347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KNN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76.14%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~$5,223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Effective baseline; confirms that "similar cars have similar prices."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21672310"/>
                  </a:ext>
                </a:extLst>
              </a:tr>
              <a:tr h="53347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Decision Tree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65.90%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~$6,417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Prone to overfitting; struggled to generalize to unseen data.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919658328"/>
                  </a:ext>
                </a:extLst>
              </a:tr>
              <a:tr h="533471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Neural Network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65.21%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~$6,693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Underperformed tree-based models on this specific tabular dataset.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550151097"/>
                  </a:ext>
                </a:extLst>
              </a:tr>
              <a:tr h="767677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49.55%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~$8,573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Poor fit. Proves car pricing is highly non-linear.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687663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SVM (SVR)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-7.7%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~$11,041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Failed model. Could not effectively separate the data hyperplanes.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83917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89FD189-76BC-4F5C-B691-C90C3A01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8" y="149141"/>
            <a:ext cx="7772400" cy="821654"/>
          </a:xfrm>
        </p:spPr>
        <p:txBody>
          <a:bodyPr/>
          <a:lstStyle/>
          <a:p>
            <a:r>
              <a:rPr lang="en-US" dirty="0"/>
              <a:t>Model Accuracy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5EC17-B5DA-4EF9-B877-7995592C6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921"/>
            <a:ext cx="9144000" cy="600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37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D43407-CC45-452F-B88C-EB67C625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49" y="1349829"/>
            <a:ext cx="8669305" cy="54244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DBA917-BE0D-4BE6-AA39-16D326EE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88" y="149141"/>
            <a:ext cx="7772400" cy="821654"/>
          </a:xfrm>
        </p:spPr>
        <p:txBody>
          <a:bodyPr/>
          <a:lstStyle/>
          <a:p>
            <a:r>
              <a:rPr lang="en-US" dirty="0"/>
              <a:t>Actual price Vs predicted price</a:t>
            </a:r>
          </a:p>
        </p:txBody>
      </p:sp>
    </p:spTree>
    <p:extLst>
      <p:ext uri="{BB962C8B-B14F-4D97-AF65-F5344CB8AC3E}">
        <p14:creationId xmlns:p14="http://schemas.microsoft.com/office/powerpoint/2010/main" val="393166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014" y="59330"/>
            <a:ext cx="7772400" cy="1275056"/>
          </a:xfrm>
        </p:spPr>
        <p:txBody>
          <a:bodyPr/>
          <a:lstStyle/>
          <a:p>
            <a:r>
              <a:rPr dirty="0"/>
              <a:t>Deployment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14130"/>
            <a:ext cx="7772400" cy="47580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Final Product: A </a:t>
            </a:r>
            <a:r>
              <a:rPr dirty="0" err="1"/>
              <a:t>Dockerized</a:t>
            </a: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App.</a:t>
            </a:r>
          </a:p>
          <a:p>
            <a:r>
              <a:rPr dirty="0"/>
              <a:t>- Users select a brand and get instant price estimates.</a:t>
            </a:r>
          </a:p>
          <a:p>
            <a:r>
              <a:rPr dirty="0"/>
              <a:t>- 'Scrap Guard' logic prevents negative price predictions.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Conclusion:</a:t>
            </a:r>
            <a:endParaRPr lang="en-US" dirty="0"/>
          </a:p>
          <a:p>
            <a:r>
              <a:rPr lang="en-US" sz="2100" dirty="0"/>
              <a:t>Architected a complete lifecycle: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Scraping</a:t>
            </a:r>
            <a:r>
              <a:rPr lang="en-US" sz="2100" dirty="0"/>
              <a:t> </a:t>
            </a:r>
            <a:r>
              <a:rPr lang="en-US" sz="2100" dirty="0">
                <a:sym typeface="Wingdings" panose="05000000000000000000" pitchFamily="2" charset="2"/>
              </a:rPr>
              <a:t></a:t>
            </a:r>
            <a:r>
              <a:rPr lang="en-US" sz="2100" dirty="0"/>
              <a:t> </a:t>
            </a:r>
            <a:r>
              <a:rPr lang="en-US" sz="2100" dirty="0">
                <a:solidFill>
                  <a:srgbClr val="0070C0"/>
                </a:solidFill>
              </a:rPr>
              <a:t>Warehousing</a:t>
            </a:r>
            <a:r>
              <a:rPr lang="en-US" sz="2100" dirty="0"/>
              <a:t> </a:t>
            </a:r>
            <a:r>
              <a:rPr lang="en-US" sz="2100" dirty="0">
                <a:sym typeface="Wingdings" panose="05000000000000000000" pitchFamily="2" charset="2"/>
              </a:rPr>
              <a:t></a:t>
            </a:r>
            <a:r>
              <a:rPr lang="en-US" sz="2100" dirty="0"/>
              <a:t> </a:t>
            </a:r>
            <a:r>
              <a:rPr lang="en-US" sz="2100" dirty="0">
                <a:solidFill>
                  <a:schemeClr val="accent4">
                    <a:lumMod val="75000"/>
                  </a:schemeClr>
                </a:solidFill>
              </a:rPr>
              <a:t>Feature Engineering </a:t>
            </a:r>
            <a:r>
              <a:rPr lang="en-US" sz="2100" dirty="0">
                <a:sym typeface="Wingdings" panose="05000000000000000000" pitchFamily="2" charset="2"/>
              </a:rPr>
              <a:t> </a:t>
            </a:r>
            <a:r>
              <a:rPr lang="en-US" sz="2100" dirty="0">
                <a:solidFill>
                  <a:srgbClr val="00B050"/>
                </a:solidFill>
              </a:rPr>
              <a:t>Deployment</a:t>
            </a:r>
            <a:endParaRPr sz="2100" dirty="0">
              <a:solidFill>
                <a:srgbClr val="00B05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en-US" sz="2100" dirty="0"/>
              <a:t>Delivered High-Precision AI: Engineered a model achieving 84.5% Accuracy, outperforming traditional regression baselines by over 35%.</a:t>
            </a:r>
          </a:p>
          <a:p>
            <a:pPr fontAlgn="base">
              <a:spcAft>
                <a:spcPct val="0"/>
              </a:spcAft>
            </a:pPr>
            <a:r>
              <a:rPr lang="en-US" altLang="en-US" sz="2100" dirty="0"/>
              <a:t>Optimized for Production: Selected </a:t>
            </a:r>
            <a:r>
              <a:rPr lang="en-US" altLang="en-US" sz="2100" dirty="0" err="1"/>
              <a:t>XGBoost</a:t>
            </a:r>
            <a:r>
              <a:rPr lang="en-US" altLang="en-US" sz="2100" dirty="0"/>
              <a:t> for its superior efficiency, reducing training time to 3.1s while maintaining a low error margin (~$4,300 MAE).</a:t>
            </a:r>
          </a:p>
          <a:p>
            <a:pPr fontAlgn="base">
              <a:spcAft>
                <a:spcPct val="0"/>
              </a:spcAft>
            </a:pPr>
            <a:r>
              <a:rPr lang="en-US" altLang="en-US" sz="2100" dirty="0"/>
              <a:t>Scalable Architecture: Built a robust pipeline capable of handling thousands of new listings without manual intervention.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82</TotalTime>
  <Words>775</Words>
  <Application>Microsoft Office PowerPoint</Application>
  <PresentationFormat>On-screen Show (4:3)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Google Sans Text</vt:lpstr>
      <vt:lpstr>Rockwell</vt:lpstr>
      <vt:lpstr>Rockwell Condensed</vt:lpstr>
      <vt:lpstr>Wingdings</vt:lpstr>
      <vt:lpstr>Wood Type</vt:lpstr>
      <vt:lpstr>Used Car Price Prediction System</vt:lpstr>
      <vt:lpstr>Project Overview &amp; Objective</vt:lpstr>
      <vt:lpstr>The Architecture (Pipeline)</vt:lpstr>
      <vt:lpstr>Data Cleaning</vt:lpstr>
      <vt:lpstr>Feature Correlation Matrix</vt:lpstr>
      <vt:lpstr>Feature Engineering</vt:lpstr>
      <vt:lpstr>Feature Engineering</vt:lpstr>
      <vt:lpstr>Feature Engineering</vt:lpstr>
      <vt:lpstr>Analysis &amp; Model Results</vt:lpstr>
      <vt:lpstr>Model Accuracy Comparison</vt:lpstr>
      <vt:lpstr>Model Accuracy Comparison</vt:lpstr>
      <vt:lpstr>Actual price Vs predicted price</vt:lpstr>
      <vt:lpstr>Deployment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Prediction System</dc:title>
  <dc:subject/>
  <dc:creator/>
  <cp:keywords/>
  <dc:description>generated using python-pptx</dc:description>
  <cp:lastModifiedBy>AFZAL Mujahid</cp:lastModifiedBy>
  <cp:revision>24</cp:revision>
  <dcterms:created xsi:type="dcterms:W3CDTF">2013-01-27T09:14:16Z</dcterms:created>
  <dcterms:modified xsi:type="dcterms:W3CDTF">2026-01-08T20:35:41Z</dcterms:modified>
  <cp:category/>
</cp:coreProperties>
</file>